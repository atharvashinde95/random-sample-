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3" r:id="rId4"/>
    <p:sldId id="264" r:id="rId5"/>
    <p:sldId id="265" r:id="rId6"/>
    <p:sldId id="25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48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02D93-9E28-13DA-E8CA-9628E7B7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18753-A90F-A02C-78A3-D86209BD7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DE7E3-1F22-1A48-81A9-94B1E9067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8E3A4-892F-D7E8-DFDC-0C2831D5C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53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1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CP-SAT?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291840"/>
          </a:xfrm>
          <a:prstGeom prst="rect">
            <a:avLst/>
          </a:prstGeom>
          <a:solidFill>
            <a:srgbClr val="EA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— Constraint Programming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constraints (rules)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finds valid assignment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3840480" cy="3291840"/>
          </a:xfrm>
          <a:prstGeom prst="rect">
            <a:avLst/>
          </a:prstGeom>
          <a:solidFill>
            <a:srgbClr val="EA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097280"/>
            <a:ext cx="3840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— Satisfiability Solving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boolean formulas (true/false)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fast modern engines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inside CP-SAT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1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Problems Does It Solve?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56032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" y="15361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planning, job-shop,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01568" y="15361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routing,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problems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005840"/>
            <a:ext cx="256032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3368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15361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packing,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stock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256032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" y="32278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Sudoku, N-Queens,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coloring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697480"/>
            <a:ext cx="256032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01568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01568" y="32278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planning,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2560320" cy="1417320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73368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3368" y="32278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cost,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throughput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9C348-158B-8945-017B-0833C273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11F560-DCC5-AE17-CDDD-51908CF4472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1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440FB8-9269-07D4-AD01-655A52BC6282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Example (Python)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AF3330-98ED-CD25-0BF1-E2D83C53D859}"/>
              </a:ext>
            </a:extLst>
          </p:cNvPr>
          <p:cNvSpPr/>
          <p:nvPr/>
        </p:nvSpPr>
        <p:spPr>
          <a:xfrm>
            <a:off x="365760" y="1005840"/>
            <a:ext cx="4937760" cy="3840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1E1F9E-5CF5-1DD9-A93E-FA63F64F8F13}"/>
              </a:ext>
            </a:extLst>
          </p:cNvPr>
          <p:cNvSpPr/>
          <p:nvPr/>
        </p:nvSpPr>
        <p:spPr>
          <a:xfrm>
            <a:off x="502920" y="10972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ortools.sat.python </a:t>
            </a:r>
            <a:r>
              <a:rPr lang="en-US" sz="11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cp_model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cp_model.CpModel()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Variables: 0–10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model.new_int_var(0, 10, 'x')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model.new_int_var(0, 10, 'y')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Constraint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model.add(x + y &lt;= 12)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Maximize x + 2*y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model.maximize(x + 2 * y)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 = cp_model.CpSolver()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solver.solve(model)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x=0, y=10 → score=20</a:t>
            </a: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847FD4-4ABC-BBB9-3348-15EF84A7BEF7}"/>
              </a:ext>
            </a:extLst>
          </p:cNvPr>
          <p:cNvSpPr/>
          <p:nvPr/>
        </p:nvSpPr>
        <p:spPr>
          <a:xfrm>
            <a:off x="55778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4F2B54-6FA2-77F9-1D5E-120B3E43AAD0}"/>
              </a:ext>
            </a:extLst>
          </p:cNvPr>
          <p:cNvSpPr/>
          <p:nvPr/>
        </p:nvSpPr>
        <p:spPr>
          <a:xfrm>
            <a:off x="608076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model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DD32839-0E0F-8533-4EC8-E2C066E411E1}"/>
              </a:ext>
            </a:extLst>
          </p:cNvPr>
          <p:cNvSpPr/>
          <p:nvPr/>
        </p:nvSpPr>
        <p:spPr>
          <a:xfrm>
            <a:off x="557784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B12558-5612-BB63-D943-E5FA1FC9B8C7}"/>
              </a:ext>
            </a:extLst>
          </p:cNvPr>
          <p:cNvSpPr/>
          <p:nvPr/>
        </p:nvSpPr>
        <p:spPr>
          <a:xfrm>
            <a:off x="6080760" y="1883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integer variables with ranges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B8FE4C-322E-91AF-5B41-07617E643A8C}"/>
              </a:ext>
            </a:extLst>
          </p:cNvPr>
          <p:cNvSpPr/>
          <p:nvPr/>
        </p:nvSpPr>
        <p:spPr>
          <a:xfrm>
            <a:off x="6080760" y="25420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constraint (x+y ≤ 12)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88D4F5C-CC9B-7C5E-A7D5-A271F66B91A1}"/>
              </a:ext>
            </a:extLst>
          </p:cNvPr>
          <p:cNvSpPr/>
          <p:nvPr/>
        </p:nvSpPr>
        <p:spPr>
          <a:xfrm>
            <a:off x="557784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2CBE879-C70E-5F91-499A-3E7ACC06D0C5}"/>
              </a:ext>
            </a:extLst>
          </p:cNvPr>
          <p:cNvSpPr/>
          <p:nvPr/>
        </p:nvSpPr>
        <p:spPr>
          <a:xfrm>
            <a:off x="6080760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objective (maximize)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211B2FC-0E23-74B4-F0BF-AD9708938443}"/>
              </a:ext>
            </a:extLst>
          </p:cNvPr>
          <p:cNvSpPr/>
          <p:nvPr/>
        </p:nvSpPr>
        <p:spPr>
          <a:xfrm>
            <a:off x="5577840" y="3822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⑤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94D09BA-76EF-B513-B254-77A806DDE45C}"/>
              </a:ext>
            </a:extLst>
          </p:cNvPr>
          <p:cNvSpPr/>
          <p:nvPr/>
        </p:nvSpPr>
        <p:spPr>
          <a:xfrm>
            <a:off x="6080760" y="3858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— get optimal values back</a:t>
            </a:r>
            <a:endParaRPr lang="en-US" sz="13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DC65054-7261-8F51-1A64-B3F589AE8343}"/>
              </a:ext>
            </a:extLst>
          </p:cNvPr>
          <p:cNvSpPr/>
          <p:nvPr/>
        </p:nvSpPr>
        <p:spPr>
          <a:xfrm>
            <a:off x="5577840" y="4572000"/>
            <a:ext cx="32004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44004CF-3A5E-A1C6-EA92-B3C9A84B5E24}"/>
              </a:ext>
            </a:extLst>
          </p:cNvPr>
          <p:cNvSpPr/>
          <p:nvPr/>
        </p:nvSpPr>
        <p:spPr>
          <a:xfrm>
            <a:off x="557784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Result: x=0, y=10, score=20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50236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 — Read the Problem &amp; Extract Inputs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" y="973836"/>
            <a:ext cx="9241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1E293B"/>
                </a:solidFill>
              </a:rPr>
              <a:t>Input : - A bakery has 2 ovens. They need to bake 5 batches today. Batch 1 (bread, 60 min), Batch 2 (croissants, 45 min), Batch 3 (cake, 90 min), Batch 4 (cookies, 30 min), Batch 5 (muffins, 40 min). Croissants must be baked before the cake. Each oven handles one batch at a time. Minimize total time to finish all baking.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51760" cy="1645920"/>
          </a:xfrm>
          <a:prstGeom prst="rect">
            <a:avLst/>
          </a:prstGeom>
          <a:solidFill>
            <a:srgbClr val="DBEAF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RESOURCES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 Ovens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1 batch per oven at a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Ovens are identical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834640" cy="1645920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3898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TASKS (Batches)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Batch 1: Bread — 60 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Batch 2: Croissants — 45 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Batch 3: Cake — 90 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Batch 4: Cookies — 30 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Batch 5: Muffins — 40 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2468880" cy="1645920"/>
          </a:xfrm>
          <a:prstGeom prst="rect">
            <a:avLst/>
          </a:prstGeom>
          <a:solidFill>
            <a:srgbClr val="FEF9C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389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Croissants must finish BEFORE Cake starts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 oven does 2 batches at the same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8503920" cy="566928"/>
          </a:xfrm>
          <a:prstGeom prst="rect">
            <a:avLst/>
          </a:prstGeom>
          <a:solidFill>
            <a:srgbClr val="FEE2E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461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OBJECTIVE:  </a:t>
            </a:r>
            <a:r>
              <a:rPr lang="en-US" sz="1300" dirty="0">
                <a:solidFill>
                  <a:srgbClr val="1E293B"/>
                </a:solidFill>
              </a:rPr>
              <a:t>Minimise the total time to finish ALL 5 batches (i.e. minimise the makespan)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 — Declare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80851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</a:rPr>
              <a:t>CP-SAT needs to know: What are the unknowns we want to solve for?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3977640" cy="1554480"/>
          </a:xfrm>
          <a:prstGeom prst="rect">
            <a:avLst/>
          </a:prstGeom>
          <a:solidFill>
            <a:srgbClr val="DBEAF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7335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Variable 1: start[i]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2082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start[i]  = the minute batch i starts baking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1343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start[1]</a:t>
            </a:r>
            <a:r>
              <a:rPr lang="en-US" sz="1100" dirty="0">
                <a:solidFill>
                  <a:srgbClr val="1E293B"/>
                </a:solidFill>
              </a:rPr>
              <a:t> = start time of Bread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start[2]</a:t>
            </a:r>
            <a:r>
              <a:rPr lang="en-US" sz="1100" dirty="0">
                <a:solidFill>
                  <a:srgbClr val="1E293B"/>
                </a:solidFill>
              </a:rPr>
              <a:t> = start time of Croissants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... and so on for all 5 batches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27632"/>
            <a:ext cx="4251960" cy="1554480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7335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Variable 2: oven[i]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02082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oven[i]  = which oven (0 or 1) handles batch 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3134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oven[1] = 0</a:t>
            </a:r>
            <a:r>
              <a:rPr lang="en-US" sz="1100" dirty="0">
                <a:solidFill>
                  <a:srgbClr val="1E293B"/>
                </a:solidFill>
              </a:rPr>
              <a:t>  → Bread goes in Oven 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oven[2] = 1</a:t>
            </a:r>
            <a:r>
              <a:rPr lang="en-US" sz="1100" dirty="0">
                <a:solidFill>
                  <a:srgbClr val="1E293B"/>
                </a:solidFill>
              </a:rPr>
              <a:t>  → Croissants go in Oven B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CP-SAT decides the best assignment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19272"/>
            <a:ext cx="8503920" cy="822960"/>
          </a:xfrm>
          <a:prstGeom prst="rect">
            <a:avLst/>
          </a:prstGeom>
          <a:solidFill>
            <a:srgbClr val="FEF9C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Variable 3: makespan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66674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makespan</a:t>
            </a:r>
            <a:r>
              <a:rPr lang="en-US" sz="1100" dirty="0">
                <a:solidFill>
                  <a:srgbClr val="1E293B"/>
                </a:solidFill>
              </a:rPr>
              <a:t>  = the total time until the last batch finishes.  This is what we want to MINIMISE.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 w="12700">
            <a:solidFill>
              <a:srgbClr val="1F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 — Add Constraints &amp; Solve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Tell CP-SAT the rules → then let it find the best schedule automatically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074920" cy="2560320"/>
          </a:xfrm>
          <a:prstGeom prst="rect">
            <a:avLst/>
          </a:prstGeom>
          <a:solidFill>
            <a:srgbClr val="DBEAF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 No oven overlap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If two batches share the same oven, one must finish before the other starts.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04288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2. Precedence: Croissants before Cake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start[2] + 45  ≤  start[3]   (Croissants finish before Cake starts)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17520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3. Makespan ≥ each batch's finish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makespan  ≥  start[i] + duration[i]   for every batch 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1170432"/>
            <a:ext cx="3200400" cy="2560320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1887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1572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CP-SAT finds the optimal schedule: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19019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Oven A: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21031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0→30 Cookies  |  30→90 Bread  |  90→180 Cake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24871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Oven B: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68833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0→45 Croissants  |  45→85 Muffins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3090672"/>
            <a:ext cx="301752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09067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 dirty="0" err="1">
                <a:solidFill>
                  <a:srgbClr val="FFFFFF"/>
                </a:solidFill>
              </a:rPr>
              <a:t>Makespan</a:t>
            </a:r>
            <a:r>
              <a:rPr lang="en-US" sz="1300" b="1" dirty="0">
                <a:solidFill>
                  <a:srgbClr val="FFFFFF"/>
                </a:solidFill>
              </a:rPr>
              <a:t> = 180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2468880" cy="502920"/>
          </a:xfrm>
          <a:prstGeom prst="rect">
            <a:avLst/>
          </a:prstGeom>
          <a:solidFill>
            <a:srgbClr val="FEF9C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58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5309"/>
                </a:solidFill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45309"/>
                </a:solidFill>
              </a:rPr>
              <a:t>Problem in plain English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94660" y="39913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37560" y="3886200"/>
            <a:ext cx="2377440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8587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CP-SAT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Variables + Constraints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72200" y="3858768"/>
            <a:ext cx="2651760" cy="502920"/>
          </a:xfrm>
          <a:prstGeom prst="rect">
            <a:avLst/>
          </a:prstGeom>
          <a:solidFill>
            <a:srgbClr val="D1FAE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858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</a:rPr>
              <a:t>Optimal schedule (180 min)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719</Words>
  <Application>Microsoft Office PowerPoint</Application>
  <PresentationFormat>On-screen Show (16:9)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CP-SAT Explained</dc:title>
  <dc:subject>PptxGenJS Presentation</dc:subject>
  <dc:creator>PptxGenJS</dc:creator>
  <cp:lastModifiedBy>Atharva Shinde</cp:lastModifiedBy>
  <cp:revision>2</cp:revision>
  <dcterms:created xsi:type="dcterms:W3CDTF">2026-04-30T12:53:08Z</dcterms:created>
  <dcterms:modified xsi:type="dcterms:W3CDTF">2026-04-30T13:56:36Z</dcterms:modified>
</cp:coreProperties>
</file>